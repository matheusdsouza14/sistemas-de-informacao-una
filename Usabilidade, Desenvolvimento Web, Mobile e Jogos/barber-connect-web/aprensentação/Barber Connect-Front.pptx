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Poppins Bold" charset="1" panose="00000800000000000000"/>
      <p:regular r:id="rId14"/>
    </p:embeddedFont>
    <p:embeddedFont>
      <p:font typeface="Poppins" charset="1" panose="00000500000000000000"/>
      <p:regular r:id="rId15"/>
    </p:embeddedFont>
    <p:embeddedFont>
      <p:font typeface="Poppins Light" charset="1" panose="000004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46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948636" y="0"/>
            <a:ext cx="6339364" cy="10287000"/>
          </a:xfrm>
          <a:custGeom>
            <a:avLst/>
            <a:gdLst/>
            <a:ahLst/>
            <a:cxnLst/>
            <a:rect r="r" b="b" t="t" l="l"/>
            <a:pathLst>
              <a:path h="10287000" w="6339364">
                <a:moveTo>
                  <a:pt x="0" y="0"/>
                </a:moveTo>
                <a:lnTo>
                  <a:pt x="6339364" y="0"/>
                </a:lnTo>
                <a:lnTo>
                  <a:pt x="633936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265690"/>
            <a:ext cx="9347599" cy="3476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41"/>
              </a:lnSpc>
            </a:pPr>
            <a:r>
              <a:rPr lang="en-US" sz="4886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Barber Connect - </a:t>
            </a:r>
            <a:r>
              <a:rPr lang="en-US" sz="48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</a:t>
            </a:r>
            <a:r>
              <a:rPr lang="en-US" sz="48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stema de Agendamentos para Barbearias</a:t>
            </a:r>
          </a:p>
          <a:p>
            <a:pPr algn="l">
              <a:lnSpc>
                <a:spcPts val="6841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5561046"/>
            <a:ext cx="9148449" cy="941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45"/>
              </a:lnSpc>
            </a:pPr>
            <a:r>
              <a:rPr lang="en-US" sz="26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Uma </a:t>
            </a:r>
            <a:r>
              <a:rPr lang="en-US" sz="26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solução completa para automatizar e organizar o controle de agendamentos em barbearias.</a:t>
            </a:r>
          </a:p>
        </p:txBody>
      </p:sp>
      <p:sp>
        <p:nvSpPr>
          <p:cNvPr name="AutoShape 5" id="5"/>
          <p:cNvSpPr/>
          <p:nvPr/>
        </p:nvSpPr>
        <p:spPr>
          <a:xfrm>
            <a:off x="1019175" y="5248273"/>
            <a:ext cx="881307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46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443401"/>
            <a:ext cx="5122910" cy="3960294"/>
            <a:chOff x="0" y="0"/>
            <a:chExt cx="812800" cy="6283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628389"/>
            </a:xfrm>
            <a:custGeom>
              <a:avLst/>
              <a:gdLst/>
              <a:ahLst/>
              <a:cxnLst/>
              <a:rect r="r" b="b" t="t" l="l"/>
              <a:pathLst>
                <a:path h="628389" w="812800">
                  <a:moveTo>
                    <a:pt x="812800" y="69517"/>
                  </a:moveTo>
                  <a:lnTo>
                    <a:pt x="812800" y="558873"/>
                  </a:lnTo>
                  <a:cubicBezTo>
                    <a:pt x="812800" y="577310"/>
                    <a:pt x="805476" y="594991"/>
                    <a:pt x="792439" y="608028"/>
                  </a:cubicBezTo>
                  <a:cubicBezTo>
                    <a:pt x="779402" y="621065"/>
                    <a:pt x="761720" y="628389"/>
                    <a:pt x="743283" y="628389"/>
                  </a:cubicBezTo>
                  <a:lnTo>
                    <a:pt x="69517" y="628389"/>
                  </a:lnTo>
                  <a:cubicBezTo>
                    <a:pt x="31124" y="628389"/>
                    <a:pt x="0" y="597266"/>
                    <a:pt x="0" y="558873"/>
                  </a:cubicBezTo>
                  <a:lnTo>
                    <a:pt x="0" y="69517"/>
                  </a:lnTo>
                  <a:cubicBezTo>
                    <a:pt x="0" y="31124"/>
                    <a:pt x="31124" y="0"/>
                    <a:pt x="69517" y="0"/>
                  </a:cubicBezTo>
                  <a:lnTo>
                    <a:pt x="743283" y="0"/>
                  </a:lnTo>
                  <a:cubicBezTo>
                    <a:pt x="781676" y="0"/>
                    <a:pt x="812800" y="31124"/>
                    <a:pt x="812800" y="69517"/>
                  </a:cubicBezTo>
                  <a:close/>
                </a:path>
              </a:pathLst>
            </a:custGeom>
            <a:solidFill>
              <a:srgbClr val="58D7B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812800" cy="685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136390" y="3443401"/>
            <a:ext cx="5122910" cy="3960294"/>
            <a:chOff x="0" y="0"/>
            <a:chExt cx="812800" cy="6283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628389"/>
            </a:xfrm>
            <a:custGeom>
              <a:avLst/>
              <a:gdLst/>
              <a:ahLst/>
              <a:cxnLst/>
              <a:rect r="r" b="b" t="t" l="l"/>
              <a:pathLst>
                <a:path h="628389" w="812800">
                  <a:moveTo>
                    <a:pt x="812800" y="69517"/>
                  </a:moveTo>
                  <a:lnTo>
                    <a:pt x="812800" y="558873"/>
                  </a:lnTo>
                  <a:cubicBezTo>
                    <a:pt x="812800" y="577310"/>
                    <a:pt x="805476" y="594991"/>
                    <a:pt x="792439" y="608028"/>
                  </a:cubicBezTo>
                  <a:cubicBezTo>
                    <a:pt x="779402" y="621065"/>
                    <a:pt x="761720" y="628389"/>
                    <a:pt x="743283" y="628389"/>
                  </a:cubicBezTo>
                  <a:lnTo>
                    <a:pt x="69517" y="628389"/>
                  </a:lnTo>
                  <a:cubicBezTo>
                    <a:pt x="31124" y="628389"/>
                    <a:pt x="0" y="597266"/>
                    <a:pt x="0" y="558873"/>
                  </a:cubicBezTo>
                  <a:lnTo>
                    <a:pt x="0" y="69517"/>
                  </a:lnTo>
                  <a:cubicBezTo>
                    <a:pt x="0" y="31124"/>
                    <a:pt x="31124" y="0"/>
                    <a:pt x="69517" y="0"/>
                  </a:cubicBezTo>
                  <a:lnTo>
                    <a:pt x="743283" y="0"/>
                  </a:lnTo>
                  <a:cubicBezTo>
                    <a:pt x="781676" y="0"/>
                    <a:pt x="812800" y="31124"/>
                    <a:pt x="812800" y="69517"/>
                  </a:cubicBezTo>
                  <a:close/>
                </a:path>
              </a:pathLst>
            </a:custGeom>
            <a:solidFill>
              <a:srgbClr val="58D7B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812800" cy="685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47618" y="3956781"/>
            <a:ext cx="1048373" cy="104837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4806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670224" y="4135408"/>
            <a:ext cx="603160" cy="691120"/>
          </a:xfrm>
          <a:custGeom>
            <a:avLst/>
            <a:gdLst/>
            <a:ahLst/>
            <a:cxnLst/>
            <a:rect r="r" b="b" t="t" l="l"/>
            <a:pathLst>
              <a:path h="691120" w="603160">
                <a:moveTo>
                  <a:pt x="0" y="0"/>
                </a:moveTo>
                <a:lnTo>
                  <a:pt x="603160" y="0"/>
                </a:lnTo>
                <a:lnTo>
                  <a:pt x="603160" y="691120"/>
                </a:lnTo>
                <a:lnTo>
                  <a:pt x="0" y="6911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481447" y="5301153"/>
            <a:ext cx="4217416" cy="156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Dupla marcação de agendamentos causando insatisfação e perda de clientes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214235" y="5496416"/>
            <a:ext cx="5122910" cy="1172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Ausência de controle estruturado compromete a qualidade do atendimento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582545" y="3443401"/>
            <a:ext cx="5122910" cy="3960294"/>
            <a:chOff x="0" y="0"/>
            <a:chExt cx="812800" cy="62838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628389"/>
            </a:xfrm>
            <a:custGeom>
              <a:avLst/>
              <a:gdLst/>
              <a:ahLst/>
              <a:cxnLst/>
              <a:rect r="r" b="b" t="t" l="l"/>
              <a:pathLst>
                <a:path h="628389" w="812800">
                  <a:moveTo>
                    <a:pt x="812800" y="69517"/>
                  </a:moveTo>
                  <a:lnTo>
                    <a:pt x="812800" y="558873"/>
                  </a:lnTo>
                  <a:cubicBezTo>
                    <a:pt x="812800" y="577310"/>
                    <a:pt x="805476" y="594991"/>
                    <a:pt x="792439" y="608028"/>
                  </a:cubicBezTo>
                  <a:cubicBezTo>
                    <a:pt x="779402" y="621065"/>
                    <a:pt x="761720" y="628389"/>
                    <a:pt x="743283" y="628389"/>
                  </a:cubicBezTo>
                  <a:lnTo>
                    <a:pt x="69517" y="628389"/>
                  </a:lnTo>
                  <a:cubicBezTo>
                    <a:pt x="31124" y="628389"/>
                    <a:pt x="0" y="597266"/>
                    <a:pt x="0" y="558873"/>
                  </a:cubicBezTo>
                  <a:lnTo>
                    <a:pt x="0" y="69517"/>
                  </a:lnTo>
                  <a:cubicBezTo>
                    <a:pt x="0" y="31124"/>
                    <a:pt x="31124" y="0"/>
                    <a:pt x="69517" y="0"/>
                  </a:cubicBezTo>
                  <a:lnTo>
                    <a:pt x="743283" y="0"/>
                  </a:lnTo>
                  <a:cubicBezTo>
                    <a:pt x="781676" y="0"/>
                    <a:pt x="812800" y="31124"/>
                    <a:pt x="812800" y="69517"/>
                  </a:cubicBezTo>
                  <a:close/>
                </a:path>
              </a:pathLst>
            </a:custGeom>
            <a:solidFill>
              <a:srgbClr val="58D7B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812800" cy="685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912832" y="5496416"/>
            <a:ext cx="4462336" cy="1172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Controle manual gera desorganização e dificuldade na visualização dos horários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640445" y="3956781"/>
            <a:ext cx="1048373" cy="1048373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4806C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044031" y="3956781"/>
            <a:ext cx="1048373" cy="1048373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4806C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7262003" y="4163983"/>
            <a:ext cx="691120" cy="691120"/>
          </a:xfrm>
          <a:custGeom>
            <a:avLst/>
            <a:gdLst/>
            <a:ahLst/>
            <a:cxnLst/>
            <a:rect r="r" b="b" t="t" l="l"/>
            <a:pathLst>
              <a:path h="691120" w="691120">
                <a:moveTo>
                  <a:pt x="0" y="0"/>
                </a:moveTo>
                <a:lnTo>
                  <a:pt x="691120" y="0"/>
                </a:lnTo>
                <a:lnTo>
                  <a:pt x="691120" y="691120"/>
                </a:lnTo>
                <a:lnTo>
                  <a:pt x="0" y="6911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2860700" y="4196087"/>
            <a:ext cx="607862" cy="607862"/>
          </a:xfrm>
          <a:custGeom>
            <a:avLst/>
            <a:gdLst/>
            <a:ahLst/>
            <a:cxnLst/>
            <a:rect r="r" b="b" t="t" l="l"/>
            <a:pathLst>
              <a:path h="607862" w="607862">
                <a:moveTo>
                  <a:pt x="0" y="0"/>
                </a:moveTo>
                <a:lnTo>
                  <a:pt x="607862" y="0"/>
                </a:lnTo>
                <a:lnTo>
                  <a:pt x="607862" y="607862"/>
                </a:lnTo>
                <a:lnTo>
                  <a:pt x="0" y="6078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2968288" y="4068733"/>
            <a:ext cx="2919352" cy="862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7"/>
              </a:lnSpc>
            </a:pPr>
            <a:r>
              <a:rPr lang="en-US" sz="2427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CONFLITOS DE HORÁRIO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492055" y="4045066"/>
            <a:ext cx="3105402" cy="862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7"/>
              </a:lnSpc>
            </a:pPr>
            <a:r>
              <a:rPr lang="en-US" sz="2427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FALTA DE ORGANIZAÇÃO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231743" y="4016491"/>
            <a:ext cx="3105402" cy="862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7"/>
              </a:lnSpc>
            </a:pPr>
            <a:r>
              <a:rPr lang="en-US" sz="2427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FALTA DE ESTRUTURA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28700" y="809625"/>
            <a:ext cx="8589665" cy="13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 Problema Atual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46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223632" y="809625"/>
            <a:ext cx="12090740" cy="13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Objetivo do Sistema: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790843" y="2732632"/>
            <a:ext cx="0" cy="976424"/>
          </a:xfrm>
          <a:prstGeom prst="line">
            <a:avLst/>
          </a:prstGeom>
          <a:ln cap="flat" w="38100">
            <a:solidFill>
              <a:srgbClr val="58D7B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939592" y="2637382"/>
            <a:ext cx="16576615" cy="6402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O sistema foi desenvolvido para permitir o gerenciamento centralizado de barbearias, oferecendo recursos administrativos e operacionais.</a:t>
            </a:r>
          </a:p>
          <a:p>
            <a:pPr algn="l">
              <a:lnSpc>
                <a:spcPts val="4619"/>
              </a:lnSpc>
              <a:spcBef>
                <a:spcPct val="0"/>
              </a:spcBef>
            </a:pPr>
          </a:p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Entre os principais objetivos estão:</a:t>
            </a:r>
          </a:p>
          <a:p>
            <a:pPr algn="l">
              <a:lnSpc>
                <a:spcPts val="4619"/>
              </a:lnSpc>
              <a:spcBef>
                <a:spcPct val="0"/>
              </a:spcBef>
            </a:pPr>
          </a:p>
          <a:p>
            <a:pPr algn="l" marL="712467" indent="-356233" lvl="1">
              <a:lnSpc>
                <a:spcPts val="4619"/>
              </a:lnSpc>
              <a:spcBef>
                <a:spcPct val="0"/>
              </a:spcBef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Automatizar agendamentos</a:t>
            </a:r>
          </a:p>
          <a:p>
            <a:pPr algn="l" marL="712467" indent="-356233" lvl="1">
              <a:lnSpc>
                <a:spcPts val="4619"/>
              </a:lnSpc>
              <a:spcBef>
                <a:spcPct val="0"/>
              </a:spcBef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Organizar a disponibilidade de barbeiros</a:t>
            </a:r>
          </a:p>
          <a:p>
            <a:pPr algn="l" marL="712467" indent="-356233" lvl="1">
              <a:lnSpc>
                <a:spcPts val="4619"/>
              </a:lnSpc>
              <a:spcBef>
                <a:spcPct val="0"/>
              </a:spcBef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Gerenciar clientes e usuários</a:t>
            </a:r>
          </a:p>
          <a:p>
            <a:pPr algn="l" marL="712467" indent="-356233" lvl="1">
              <a:lnSpc>
                <a:spcPts val="4619"/>
              </a:lnSpc>
              <a:spcBef>
                <a:spcPct val="0"/>
              </a:spcBef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Centralizar serviços e pagamentos</a:t>
            </a:r>
          </a:p>
          <a:p>
            <a:pPr algn="l" marL="712467" indent="-356233" lvl="1">
              <a:lnSpc>
                <a:spcPts val="4619"/>
              </a:lnSpc>
              <a:spcBef>
                <a:spcPct val="0"/>
              </a:spcBef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Facilitar o controle administrativo</a:t>
            </a:r>
          </a:p>
          <a:p>
            <a:pPr algn="l" marL="712467" indent="-356233" lvl="1">
              <a:lnSpc>
                <a:spcPts val="4619"/>
              </a:lnSpc>
              <a:spcBef>
                <a:spcPct val="0"/>
              </a:spcBef>
              <a:buFont typeface="Arial"/>
              <a:buChar char="•"/>
            </a:pPr>
            <a:r>
              <a:rPr lang="en-US" sz="32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Melhorar a experiência dos usuários</a:t>
            </a:r>
          </a:p>
        </p:txBody>
      </p:sp>
      <p:sp>
        <p:nvSpPr>
          <p:cNvPr name="Freeform 5" id="5"/>
          <p:cNvSpPr/>
          <p:nvPr/>
        </p:nvSpPr>
        <p:spPr>
          <a:xfrm flipH="true" flipV="false" rot="0">
            <a:off x="10447177" y="3783416"/>
            <a:ext cx="8503591" cy="5867478"/>
          </a:xfrm>
          <a:custGeom>
            <a:avLst/>
            <a:gdLst/>
            <a:ahLst/>
            <a:cxnLst/>
            <a:rect r="r" b="b" t="t" l="l"/>
            <a:pathLst>
              <a:path h="5867478" w="8503591">
                <a:moveTo>
                  <a:pt x="8503591" y="0"/>
                </a:moveTo>
                <a:lnTo>
                  <a:pt x="0" y="0"/>
                </a:lnTo>
                <a:lnTo>
                  <a:pt x="0" y="5867477"/>
                </a:lnTo>
                <a:lnTo>
                  <a:pt x="8503591" y="5867477"/>
                </a:lnTo>
                <a:lnTo>
                  <a:pt x="8503591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46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3715" y="3322662"/>
            <a:ext cx="597969" cy="378352"/>
          </a:xfrm>
          <a:custGeom>
            <a:avLst/>
            <a:gdLst/>
            <a:ahLst/>
            <a:cxnLst/>
            <a:rect r="r" b="b" t="t" l="l"/>
            <a:pathLst>
              <a:path h="378352" w="597969">
                <a:moveTo>
                  <a:pt x="0" y="0"/>
                </a:moveTo>
                <a:lnTo>
                  <a:pt x="597970" y="0"/>
                </a:lnTo>
                <a:lnTo>
                  <a:pt x="597970" y="378352"/>
                </a:lnTo>
                <a:lnTo>
                  <a:pt x="0" y="3783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483237" y="0"/>
            <a:ext cx="6995160" cy="10287000"/>
          </a:xfrm>
          <a:custGeom>
            <a:avLst/>
            <a:gdLst/>
            <a:ahLst/>
            <a:cxnLst/>
            <a:rect r="r" b="b" t="t" l="l"/>
            <a:pathLst>
              <a:path h="10287000" w="6995160">
                <a:moveTo>
                  <a:pt x="0" y="0"/>
                </a:moveTo>
                <a:lnTo>
                  <a:pt x="6995160" y="0"/>
                </a:lnTo>
                <a:lnTo>
                  <a:pt x="699516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571572" y="7009408"/>
            <a:ext cx="204421" cy="614382"/>
          </a:xfrm>
          <a:custGeom>
            <a:avLst/>
            <a:gdLst/>
            <a:ahLst/>
            <a:cxnLst/>
            <a:rect r="r" b="b" t="t" l="l"/>
            <a:pathLst>
              <a:path h="614382" w="204421">
                <a:moveTo>
                  <a:pt x="0" y="0"/>
                </a:moveTo>
                <a:lnTo>
                  <a:pt x="204421" y="0"/>
                </a:lnTo>
                <a:lnTo>
                  <a:pt x="204421" y="614381"/>
                </a:lnTo>
                <a:lnTo>
                  <a:pt x="0" y="6143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21685" y="333156"/>
            <a:ext cx="12972855" cy="2227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68"/>
              </a:lnSpc>
            </a:pPr>
            <a:r>
              <a:rPr lang="en-US" sz="590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Valter Branco(Cliente Ocupado)</a:t>
            </a:r>
          </a:p>
          <a:p>
            <a:pPr algn="l">
              <a:lnSpc>
                <a:spcPts val="4480"/>
              </a:lnSpc>
            </a:pPr>
            <a:r>
              <a:rPr lang="en-US" b="true" sz="3200" spc="-26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Idade: 34 anos</a:t>
            </a:r>
          </a:p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Profissão: Engenheiro Civil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33155" y="3217887"/>
            <a:ext cx="5651059" cy="290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40"/>
              </a:lnSpc>
            </a:pPr>
            <a:r>
              <a:rPr lang="en-US" b="true" sz="3200" spc="-26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Objetivo</a:t>
            </a:r>
          </a:p>
          <a:p>
            <a:pPr algn="l" marL="690881" indent="-345440" lvl="1">
              <a:lnSpc>
                <a:spcPts val="4640"/>
              </a:lnSpc>
              <a:buFont typeface="Arial"/>
              <a:buChar char="•"/>
            </a:pPr>
            <a:r>
              <a:rPr lang="en-US" sz="3200" spc="-26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Agendar serviços de forma rápida e sem precisar entrar em contato diretamente com a barbearia.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3155" y="6931025"/>
            <a:ext cx="7100165" cy="232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40"/>
              </a:lnSpc>
            </a:pPr>
            <a:r>
              <a:rPr lang="en-US" b="true" sz="3200" spc="-26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Necessidades</a:t>
            </a:r>
          </a:p>
          <a:p>
            <a:pPr algn="l" marL="690881" indent="-345440" lvl="1">
              <a:lnSpc>
                <a:spcPts val="4640"/>
              </a:lnSpc>
              <a:buFont typeface="Arial"/>
              <a:buChar char="•"/>
            </a:pPr>
            <a:r>
              <a:rPr lang="en-US" sz="3200" spc="-26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Consultar horários disponíveis.</a:t>
            </a:r>
          </a:p>
          <a:p>
            <a:pPr algn="l" marL="690881" indent="-345440" lvl="1">
              <a:lnSpc>
                <a:spcPts val="4640"/>
              </a:lnSpc>
              <a:buFont typeface="Arial"/>
              <a:buChar char="•"/>
            </a:pPr>
            <a:r>
              <a:rPr lang="en-US" sz="3200" spc="-26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Receber confirmações e lembretes.</a:t>
            </a:r>
          </a:p>
          <a:p>
            <a:pPr algn="l" marL="690881" indent="-345440" lvl="1">
              <a:lnSpc>
                <a:spcPts val="4640"/>
              </a:lnSpc>
              <a:buFont typeface="Arial"/>
              <a:buChar char="•"/>
            </a:pPr>
            <a:r>
              <a:rPr lang="en-US" sz="3200" spc="-26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Escolher barbeiros específicos.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890293" y="3217887"/>
            <a:ext cx="7195710" cy="232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40"/>
              </a:lnSpc>
            </a:pPr>
            <a:r>
              <a:rPr lang="en-US" b="true" sz="3200" spc="-26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Dores</a:t>
            </a:r>
          </a:p>
          <a:p>
            <a:pPr algn="l" marL="690881" indent="-345440" lvl="1">
              <a:lnSpc>
                <a:spcPts val="4640"/>
              </a:lnSpc>
              <a:buFont typeface="Arial"/>
              <a:buChar char="•"/>
            </a:pPr>
            <a:r>
              <a:rPr lang="en-US" sz="3200" spc="-26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Falta de tempo para ligar e agendar.</a:t>
            </a:r>
          </a:p>
          <a:p>
            <a:pPr algn="l" marL="690881" indent="-345440" lvl="1">
              <a:lnSpc>
                <a:spcPts val="4640"/>
              </a:lnSpc>
              <a:buFont typeface="Arial"/>
              <a:buChar char="•"/>
            </a:pPr>
            <a:r>
              <a:rPr lang="en-US" sz="3200" spc="-26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Dificuldade em encontrar horários disponíveis.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890293" y="6931025"/>
            <a:ext cx="6765756" cy="290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40"/>
              </a:lnSpc>
            </a:pPr>
            <a:r>
              <a:rPr lang="en-US" b="true" sz="3200" spc="-26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Funcionalidades Utilizadas</a:t>
            </a:r>
          </a:p>
          <a:p>
            <a:pPr algn="l" marL="690881" indent="-345440" lvl="1">
              <a:lnSpc>
                <a:spcPts val="4640"/>
              </a:lnSpc>
              <a:buFont typeface="Arial"/>
              <a:buChar char="•"/>
            </a:pPr>
            <a:r>
              <a:rPr lang="en-US" sz="3200" spc="-26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Cadastro de Usuário</a:t>
            </a:r>
          </a:p>
          <a:p>
            <a:pPr algn="l" marL="690881" indent="-345440" lvl="1">
              <a:lnSpc>
                <a:spcPts val="4640"/>
              </a:lnSpc>
              <a:buFont typeface="Arial"/>
              <a:buChar char="•"/>
            </a:pPr>
            <a:r>
              <a:rPr lang="en-US" sz="3200" spc="-26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Sistema de Agendamento</a:t>
            </a:r>
          </a:p>
          <a:p>
            <a:pPr algn="l" marL="690881" indent="-345440" lvl="1">
              <a:lnSpc>
                <a:spcPts val="4640"/>
              </a:lnSpc>
              <a:buFont typeface="Arial"/>
              <a:buChar char="•"/>
            </a:pPr>
            <a:r>
              <a:rPr lang="en-US" sz="3200" spc="-26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Painel de Agendamentos</a:t>
            </a:r>
          </a:p>
          <a:p>
            <a:pPr algn="l" marL="690881" indent="-345440" lvl="1">
              <a:lnSpc>
                <a:spcPts val="4640"/>
              </a:lnSpc>
              <a:buFont typeface="Arial"/>
              <a:buChar char="•"/>
            </a:pPr>
            <a:r>
              <a:rPr lang="en-US" sz="3200" spc="-26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Pagamentos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20885" y="7127423"/>
            <a:ext cx="597969" cy="378352"/>
          </a:xfrm>
          <a:custGeom>
            <a:avLst/>
            <a:gdLst/>
            <a:ahLst/>
            <a:cxnLst/>
            <a:rect r="r" b="b" t="t" l="l"/>
            <a:pathLst>
              <a:path h="378352" w="597969">
                <a:moveTo>
                  <a:pt x="0" y="0"/>
                </a:moveTo>
                <a:lnTo>
                  <a:pt x="597970" y="0"/>
                </a:lnTo>
                <a:lnTo>
                  <a:pt x="597970" y="378351"/>
                </a:lnTo>
                <a:lnTo>
                  <a:pt x="0" y="3783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571572" y="3204647"/>
            <a:ext cx="204421" cy="614382"/>
          </a:xfrm>
          <a:custGeom>
            <a:avLst/>
            <a:gdLst/>
            <a:ahLst/>
            <a:cxnLst/>
            <a:rect r="r" b="b" t="t" l="l"/>
            <a:pathLst>
              <a:path h="614382" w="204421">
                <a:moveTo>
                  <a:pt x="0" y="0"/>
                </a:moveTo>
                <a:lnTo>
                  <a:pt x="204421" y="0"/>
                </a:lnTo>
                <a:lnTo>
                  <a:pt x="204421" y="614382"/>
                </a:lnTo>
                <a:lnTo>
                  <a:pt x="0" y="6143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46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26874" y="2934662"/>
            <a:ext cx="1313718" cy="714185"/>
          </a:xfrm>
          <a:custGeom>
            <a:avLst/>
            <a:gdLst/>
            <a:ahLst/>
            <a:cxnLst/>
            <a:rect r="r" b="b" t="t" l="l"/>
            <a:pathLst>
              <a:path h="714185" w="1313718">
                <a:moveTo>
                  <a:pt x="0" y="0"/>
                </a:moveTo>
                <a:lnTo>
                  <a:pt x="1313718" y="0"/>
                </a:lnTo>
                <a:lnTo>
                  <a:pt x="1313718" y="714184"/>
                </a:lnTo>
                <a:lnTo>
                  <a:pt x="0" y="7141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33155" y="446493"/>
            <a:ext cx="7365723" cy="1293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9"/>
              </a:lnSpc>
            </a:pPr>
            <a:r>
              <a:rPr lang="en-US" sz="71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Cenário de uso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77482" y="2941954"/>
            <a:ext cx="4521289" cy="592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Faz Login no Sistema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2076998" y="2937661"/>
            <a:ext cx="1313718" cy="714185"/>
          </a:xfrm>
          <a:custGeom>
            <a:avLst/>
            <a:gdLst/>
            <a:ahLst/>
            <a:cxnLst/>
            <a:rect r="r" b="b" t="t" l="l"/>
            <a:pathLst>
              <a:path h="714185" w="1313718">
                <a:moveTo>
                  <a:pt x="0" y="0"/>
                </a:moveTo>
                <a:lnTo>
                  <a:pt x="1313718" y="0"/>
                </a:lnTo>
                <a:lnTo>
                  <a:pt x="1313718" y="714184"/>
                </a:lnTo>
                <a:lnTo>
                  <a:pt x="0" y="7141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15242895" y="4282807"/>
            <a:ext cx="1313718" cy="714185"/>
          </a:xfrm>
          <a:custGeom>
            <a:avLst/>
            <a:gdLst/>
            <a:ahLst/>
            <a:cxnLst/>
            <a:rect r="r" b="b" t="t" l="l"/>
            <a:pathLst>
              <a:path h="714185" w="1313718">
                <a:moveTo>
                  <a:pt x="0" y="0"/>
                </a:moveTo>
                <a:lnTo>
                  <a:pt x="1313718" y="0"/>
                </a:lnTo>
                <a:lnTo>
                  <a:pt x="1313718" y="714185"/>
                </a:lnTo>
                <a:lnTo>
                  <a:pt x="0" y="7141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127085" y="2660388"/>
            <a:ext cx="4521289" cy="1173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Encontra uma Barbearia próxima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639110" y="2941954"/>
            <a:ext cx="4521289" cy="592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Escolhe um Barbeiro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390716" y="5534884"/>
            <a:ext cx="4521289" cy="1173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Consulta Horários disponiveis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10800000">
            <a:off x="12076998" y="5860907"/>
            <a:ext cx="1313718" cy="714185"/>
          </a:xfrm>
          <a:custGeom>
            <a:avLst/>
            <a:gdLst/>
            <a:ahLst/>
            <a:cxnLst/>
            <a:rect r="r" b="b" t="t" l="l"/>
            <a:pathLst>
              <a:path h="714185" w="1313718">
                <a:moveTo>
                  <a:pt x="0" y="0"/>
                </a:moveTo>
                <a:lnTo>
                  <a:pt x="1313718" y="0"/>
                </a:lnTo>
                <a:lnTo>
                  <a:pt x="1313718" y="714185"/>
                </a:lnTo>
                <a:lnTo>
                  <a:pt x="0" y="7141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050095" y="7985705"/>
            <a:ext cx="1313718" cy="714185"/>
          </a:xfrm>
          <a:custGeom>
            <a:avLst/>
            <a:gdLst/>
            <a:ahLst/>
            <a:cxnLst/>
            <a:rect r="r" b="b" t="t" l="l"/>
            <a:pathLst>
              <a:path h="714185" w="1313718">
                <a:moveTo>
                  <a:pt x="0" y="0"/>
                </a:moveTo>
                <a:lnTo>
                  <a:pt x="1313718" y="0"/>
                </a:lnTo>
                <a:lnTo>
                  <a:pt x="1313718" y="714184"/>
                </a:lnTo>
                <a:lnTo>
                  <a:pt x="0" y="7141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10723755">
            <a:off x="5945618" y="6004658"/>
            <a:ext cx="1313718" cy="714185"/>
          </a:xfrm>
          <a:custGeom>
            <a:avLst/>
            <a:gdLst/>
            <a:ahLst/>
            <a:cxnLst/>
            <a:rect r="r" b="b" t="t" l="l"/>
            <a:pathLst>
              <a:path h="714185" w="1313718">
                <a:moveTo>
                  <a:pt x="0" y="0"/>
                </a:moveTo>
                <a:lnTo>
                  <a:pt x="1313718" y="0"/>
                </a:lnTo>
                <a:lnTo>
                  <a:pt x="1313718" y="714185"/>
                </a:lnTo>
                <a:lnTo>
                  <a:pt x="0" y="7141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579947" y="7998944"/>
            <a:ext cx="4521289" cy="592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Efetua o Pagamento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33155" y="6017897"/>
            <a:ext cx="4521289" cy="592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Escolhe o Serviço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409968" y="5894928"/>
            <a:ext cx="4521289" cy="592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Agenda o Horário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5400000">
            <a:off x="1976574" y="7328846"/>
            <a:ext cx="1313718" cy="714185"/>
          </a:xfrm>
          <a:custGeom>
            <a:avLst/>
            <a:gdLst/>
            <a:ahLst/>
            <a:cxnLst/>
            <a:rect r="r" b="b" t="t" l="l"/>
            <a:pathLst>
              <a:path h="714185" w="1313718">
                <a:moveTo>
                  <a:pt x="0" y="0"/>
                </a:moveTo>
                <a:lnTo>
                  <a:pt x="1313718" y="0"/>
                </a:lnTo>
                <a:lnTo>
                  <a:pt x="1313718" y="714184"/>
                </a:lnTo>
                <a:lnTo>
                  <a:pt x="0" y="7141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2432187" y="7998944"/>
            <a:ext cx="4521289" cy="592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Recebe Confirmação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46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3715" y="3322662"/>
            <a:ext cx="597969" cy="378352"/>
          </a:xfrm>
          <a:custGeom>
            <a:avLst/>
            <a:gdLst/>
            <a:ahLst/>
            <a:cxnLst/>
            <a:rect r="r" b="b" t="t" l="l"/>
            <a:pathLst>
              <a:path h="378352" w="597969">
                <a:moveTo>
                  <a:pt x="0" y="0"/>
                </a:moveTo>
                <a:lnTo>
                  <a:pt x="597970" y="0"/>
                </a:lnTo>
                <a:lnTo>
                  <a:pt x="597970" y="378352"/>
                </a:lnTo>
                <a:lnTo>
                  <a:pt x="0" y="3783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483237" y="0"/>
            <a:ext cx="6995160" cy="10287000"/>
          </a:xfrm>
          <a:custGeom>
            <a:avLst/>
            <a:gdLst/>
            <a:ahLst/>
            <a:cxnLst/>
            <a:rect r="r" b="b" t="t" l="l"/>
            <a:pathLst>
              <a:path h="10287000" w="6995160">
                <a:moveTo>
                  <a:pt x="0" y="0"/>
                </a:moveTo>
                <a:lnTo>
                  <a:pt x="6995160" y="0"/>
                </a:lnTo>
                <a:lnTo>
                  <a:pt x="699516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571572" y="7009408"/>
            <a:ext cx="204421" cy="614382"/>
          </a:xfrm>
          <a:custGeom>
            <a:avLst/>
            <a:gdLst/>
            <a:ahLst/>
            <a:cxnLst/>
            <a:rect r="r" b="b" t="t" l="l"/>
            <a:pathLst>
              <a:path h="614382" w="204421">
                <a:moveTo>
                  <a:pt x="0" y="0"/>
                </a:moveTo>
                <a:lnTo>
                  <a:pt x="204421" y="0"/>
                </a:lnTo>
                <a:lnTo>
                  <a:pt x="204421" y="614381"/>
                </a:lnTo>
                <a:lnTo>
                  <a:pt x="0" y="6143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21685" y="333156"/>
            <a:ext cx="12554994" cy="2227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68"/>
              </a:lnSpc>
            </a:pPr>
            <a:r>
              <a:rPr lang="en-US" sz="590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Lucas Ferreira (Cliente Exigente)</a:t>
            </a:r>
          </a:p>
          <a:p>
            <a:pPr algn="l">
              <a:lnSpc>
                <a:spcPts val="4480"/>
              </a:lnSpc>
            </a:pPr>
            <a:r>
              <a:rPr lang="en-US" b="true" sz="3200" spc="-26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Idade: 23 anos</a:t>
            </a:r>
          </a:p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Profissão: Universitário e Criador de Conteúdo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33155" y="3217887"/>
            <a:ext cx="7370877" cy="232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40"/>
              </a:lnSpc>
            </a:pPr>
            <a:r>
              <a:rPr lang="en-US" b="true" sz="3200" spc="-26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Objetivo</a:t>
            </a:r>
          </a:p>
          <a:p>
            <a:pPr algn="l" marL="690881" indent="-345440" lvl="1">
              <a:lnSpc>
                <a:spcPts val="4640"/>
              </a:lnSpc>
              <a:buFont typeface="Arial"/>
              <a:buChar char="•"/>
            </a:pPr>
            <a:r>
              <a:rPr lang="en-US" sz="3200" spc="-26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3200" spc="-26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ncontrar barbeiros especializados e visualizar todos os serviços disponíveis antes de agendar.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3155" y="6931025"/>
            <a:ext cx="8087468" cy="232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40"/>
              </a:lnSpc>
            </a:pPr>
            <a:r>
              <a:rPr lang="en-US" b="true" sz="3200" spc="-26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Necessidades</a:t>
            </a:r>
          </a:p>
          <a:p>
            <a:pPr algn="l" marL="690881" indent="-345440" lvl="1">
              <a:lnSpc>
                <a:spcPts val="4640"/>
              </a:lnSpc>
              <a:buFont typeface="Arial"/>
              <a:buChar char="•"/>
            </a:pPr>
            <a:r>
              <a:rPr lang="en-US" sz="3200" spc="-26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Ve</a:t>
            </a:r>
            <a:r>
              <a:rPr lang="en-US" sz="3200" spc="-26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 preços e descrições dos serviços.</a:t>
            </a:r>
          </a:p>
          <a:p>
            <a:pPr algn="l" marL="690881" indent="-345440" lvl="1">
              <a:lnSpc>
                <a:spcPts val="4640"/>
              </a:lnSpc>
              <a:buFont typeface="Arial"/>
              <a:buChar char="•"/>
            </a:pPr>
            <a:r>
              <a:rPr lang="en-US" sz="3200" spc="-26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Escolher barbeiros específicos.</a:t>
            </a:r>
          </a:p>
          <a:p>
            <a:pPr algn="l" marL="690881" indent="-345440" lvl="1">
              <a:lnSpc>
                <a:spcPts val="4640"/>
              </a:lnSpc>
              <a:buFont typeface="Arial"/>
              <a:buChar char="•"/>
            </a:pPr>
            <a:r>
              <a:rPr lang="en-US" sz="3200" spc="-26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Acompanhar histórico de agendamentos.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890293" y="3217887"/>
            <a:ext cx="7609741" cy="232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40"/>
              </a:lnSpc>
            </a:pPr>
            <a:r>
              <a:rPr lang="en-US" b="true" sz="3200" spc="-26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Dores</a:t>
            </a:r>
          </a:p>
          <a:p>
            <a:pPr algn="l" marL="690881" indent="-345440" lvl="1">
              <a:lnSpc>
                <a:spcPts val="4640"/>
              </a:lnSpc>
              <a:buFont typeface="Arial"/>
              <a:buChar char="•"/>
            </a:pPr>
            <a:r>
              <a:rPr lang="en-US" sz="3200" spc="-26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Falta de informações sobre os serviços.</a:t>
            </a:r>
          </a:p>
          <a:p>
            <a:pPr algn="l" marL="690881" indent="-345440" lvl="1">
              <a:lnSpc>
                <a:spcPts val="4640"/>
              </a:lnSpc>
              <a:buFont typeface="Arial"/>
              <a:buChar char="•"/>
            </a:pPr>
            <a:r>
              <a:rPr lang="en-US" sz="3200" spc="-26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Não conseguir marcar com seu barbeiro preferido.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890293" y="6931025"/>
            <a:ext cx="6765756" cy="290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40"/>
              </a:lnSpc>
            </a:pPr>
            <a:r>
              <a:rPr lang="en-US" b="true" sz="3200" spc="-26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Funcionalidades Utilizadas</a:t>
            </a:r>
          </a:p>
          <a:p>
            <a:pPr algn="l" marL="690881" indent="-345440" lvl="1">
              <a:lnSpc>
                <a:spcPts val="4640"/>
              </a:lnSpc>
              <a:buFont typeface="Arial"/>
              <a:buChar char="•"/>
            </a:pPr>
            <a:r>
              <a:rPr lang="en-US" sz="3200" spc="-26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Cadastro de Usuário</a:t>
            </a:r>
          </a:p>
          <a:p>
            <a:pPr algn="l" marL="690881" indent="-345440" lvl="1">
              <a:lnSpc>
                <a:spcPts val="4640"/>
              </a:lnSpc>
              <a:buFont typeface="Arial"/>
              <a:buChar char="•"/>
            </a:pPr>
            <a:r>
              <a:rPr lang="en-US" sz="3200" spc="-26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Cadastro de Serviços</a:t>
            </a:r>
          </a:p>
          <a:p>
            <a:pPr algn="l" marL="690881" indent="-345440" lvl="1">
              <a:lnSpc>
                <a:spcPts val="4640"/>
              </a:lnSpc>
              <a:buFont typeface="Arial"/>
              <a:buChar char="•"/>
            </a:pPr>
            <a:r>
              <a:rPr lang="en-US" sz="3200" spc="-26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Sistema de Agendamento</a:t>
            </a:r>
          </a:p>
          <a:p>
            <a:pPr algn="l" marL="690881" indent="-345440" lvl="1">
              <a:lnSpc>
                <a:spcPts val="4640"/>
              </a:lnSpc>
              <a:buFont typeface="Arial"/>
              <a:buChar char="•"/>
            </a:pPr>
            <a:r>
              <a:rPr lang="en-US" sz="3200" spc="-26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Pagamentos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20885" y="7127423"/>
            <a:ext cx="597969" cy="378352"/>
          </a:xfrm>
          <a:custGeom>
            <a:avLst/>
            <a:gdLst/>
            <a:ahLst/>
            <a:cxnLst/>
            <a:rect r="r" b="b" t="t" l="l"/>
            <a:pathLst>
              <a:path h="378352" w="597969">
                <a:moveTo>
                  <a:pt x="0" y="0"/>
                </a:moveTo>
                <a:lnTo>
                  <a:pt x="597970" y="0"/>
                </a:lnTo>
                <a:lnTo>
                  <a:pt x="597970" y="378351"/>
                </a:lnTo>
                <a:lnTo>
                  <a:pt x="0" y="3783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571572" y="3204647"/>
            <a:ext cx="204421" cy="614382"/>
          </a:xfrm>
          <a:custGeom>
            <a:avLst/>
            <a:gdLst/>
            <a:ahLst/>
            <a:cxnLst/>
            <a:rect r="r" b="b" t="t" l="l"/>
            <a:pathLst>
              <a:path h="614382" w="204421">
                <a:moveTo>
                  <a:pt x="0" y="0"/>
                </a:moveTo>
                <a:lnTo>
                  <a:pt x="204421" y="0"/>
                </a:lnTo>
                <a:lnTo>
                  <a:pt x="204421" y="614382"/>
                </a:lnTo>
                <a:lnTo>
                  <a:pt x="0" y="6143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46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26874" y="2934662"/>
            <a:ext cx="1313718" cy="714185"/>
          </a:xfrm>
          <a:custGeom>
            <a:avLst/>
            <a:gdLst/>
            <a:ahLst/>
            <a:cxnLst/>
            <a:rect r="r" b="b" t="t" l="l"/>
            <a:pathLst>
              <a:path h="714185" w="1313718">
                <a:moveTo>
                  <a:pt x="0" y="0"/>
                </a:moveTo>
                <a:lnTo>
                  <a:pt x="1313718" y="0"/>
                </a:lnTo>
                <a:lnTo>
                  <a:pt x="1313718" y="714184"/>
                </a:lnTo>
                <a:lnTo>
                  <a:pt x="0" y="7141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33155" y="446493"/>
            <a:ext cx="7365723" cy="1293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9"/>
              </a:lnSpc>
            </a:pPr>
            <a:r>
              <a:rPr lang="en-US" sz="71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Cenário de uso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77482" y="2941954"/>
            <a:ext cx="4521289" cy="592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Faz Login no Sistema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2076998" y="2937661"/>
            <a:ext cx="1313718" cy="714185"/>
          </a:xfrm>
          <a:custGeom>
            <a:avLst/>
            <a:gdLst/>
            <a:ahLst/>
            <a:cxnLst/>
            <a:rect r="r" b="b" t="t" l="l"/>
            <a:pathLst>
              <a:path h="714185" w="1313718">
                <a:moveTo>
                  <a:pt x="0" y="0"/>
                </a:moveTo>
                <a:lnTo>
                  <a:pt x="1313718" y="0"/>
                </a:lnTo>
                <a:lnTo>
                  <a:pt x="1313718" y="714184"/>
                </a:lnTo>
                <a:lnTo>
                  <a:pt x="0" y="7141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15242895" y="4282807"/>
            <a:ext cx="1313718" cy="714185"/>
          </a:xfrm>
          <a:custGeom>
            <a:avLst/>
            <a:gdLst/>
            <a:ahLst/>
            <a:cxnLst/>
            <a:rect r="r" b="b" t="t" l="l"/>
            <a:pathLst>
              <a:path h="714185" w="1313718">
                <a:moveTo>
                  <a:pt x="0" y="0"/>
                </a:moveTo>
                <a:lnTo>
                  <a:pt x="1313718" y="0"/>
                </a:lnTo>
                <a:lnTo>
                  <a:pt x="1313718" y="714185"/>
                </a:lnTo>
                <a:lnTo>
                  <a:pt x="0" y="7141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127085" y="2660388"/>
            <a:ext cx="4521289" cy="1173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Encontra uma Barbearia próxima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639110" y="2941954"/>
            <a:ext cx="4521289" cy="592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Escolhe um Barbeiro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390716" y="5534884"/>
            <a:ext cx="4521289" cy="1173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Consulta Horários disponiveis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10800000">
            <a:off x="12076998" y="5860907"/>
            <a:ext cx="1313718" cy="714185"/>
          </a:xfrm>
          <a:custGeom>
            <a:avLst/>
            <a:gdLst/>
            <a:ahLst/>
            <a:cxnLst/>
            <a:rect r="r" b="b" t="t" l="l"/>
            <a:pathLst>
              <a:path h="714185" w="1313718">
                <a:moveTo>
                  <a:pt x="0" y="0"/>
                </a:moveTo>
                <a:lnTo>
                  <a:pt x="1313718" y="0"/>
                </a:lnTo>
                <a:lnTo>
                  <a:pt x="1313718" y="714185"/>
                </a:lnTo>
                <a:lnTo>
                  <a:pt x="0" y="7141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050095" y="7985705"/>
            <a:ext cx="1313718" cy="714185"/>
          </a:xfrm>
          <a:custGeom>
            <a:avLst/>
            <a:gdLst/>
            <a:ahLst/>
            <a:cxnLst/>
            <a:rect r="r" b="b" t="t" l="l"/>
            <a:pathLst>
              <a:path h="714185" w="1313718">
                <a:moveTo>
                  <a:pt x="0" y="0"/>
                </a:moveTo>
                <a:lnTo>
                  <a:pt x="1313718" y="0"/>
                </a:lnTo>
                <a:lnTo>
                  <a:pt x="1313718" y="714184"/>
                </a:lnTo>
                <a:lnTo>
                  <a:pt x="0" y="7141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10723755">
            <a:off x="5945618" y="6004658"/>
            <a:ext cx="1313718" cy="714185"/>
          </a:xfrm>
          <a:custGeom>
            <a:avLst/>
            <a:gdLst/>
            <a:ahLst/>
            <a:cxnLst/>
            <a:rect r="r" b="b" t="t" l="l"/>
            <a:pathLst>
              <a:path h="714185" w="1313718">
                <a:moveTo>
                  <a:pt x="0" y="0"/>
                </a:moveTo>
                <a:lnTo>
                  <a:pt x="1313718" y="0"/>
                </a:lnTo>
                <a:lnTo>
                  <a:pt x="1313718" y="714185"/>
                </a:lnTo>
                <a:lnTo>
                  <a:pt x="0" y="7141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579947" y="7998944"/>
            <a:ext cx="4521289" cy="592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Efetua o Pagamento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33155" y="6017897"/>
            <a:ext cx="4521289" cy="592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Escolhe o Serviço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409968" y="5894928"/>
            <a:ext cx="4521289" cy="592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Agenda o Horário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5400000">
            <a:off x="1976574" y="7328846"/>
            <a:ext cx="1313718" cy="714185"/>
          </a:xfrm>
          <a:custGeom>
            <a:avLst/>
            <a:gdLst/>
            <a:ahLst/>
            <a:cxnLst/>
            <a:rect r="r" b="b" t="t" l="l"/>
            <a:pathLst>
              <a:path h="714185" w="1313718">
                <a:moveTo>
                  <a:pt x="0" y="0"/>
                </a:moveTo>
                <a:lnTo>
                  <a:pt x="1313718" y="0"/>
                </a:lnTo>
                <a:lnTo>
                  <a:pt x="1313718" y="714184"/>
                </a:lnTo>
                <a:lnTo>
                  <a:pt x="0" y="7141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2316313" y="7503795"/>
            <a:ext cx="5595691" cy="1754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Consulta seu histórico para futuros agendamentos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1646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60104" y="4188778"/>
            <a:ext cx="6772077" cy="1652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OBRIGADO!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DAHL7FoSxAg</dc:identifier>
  <dcterms:modified xsi:type="dcterms:W3CDTF">2011-08-01T06:04:30Z</dcterms:modified>
  <cp:revision>1</cp:revision>
  <dc:title>Barber Connect-Front</dc:title>
</cp:coreProperties>
</file>